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3" r:id="rId9"/>
    <p:sldId id="262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2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B49E-E499-A481-5CB7-A475AB351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295D9-5D9C-4AF4-117D-79B05C201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7C02A-0833-BD7F-2769-0F31638ED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F7200-8CF0-4BDC-B16B-5EAF92FE5E7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D26DD-3C17-2BE8-4570-691CA80D1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F2BC0-DF28-569D-1A8D-D1358D86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C494-6601-46F1-8155-CEA843121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64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ACF70-AFE7-1EE7-F6D6-D0DB8A86D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C93D8-763A-85EE-1FBB-6407A1842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FFAF1-60AE-1EAA-413F-F618BEBFF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F7200-8CF0-4BDC-B16B-5EAF92FE5E7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AA060-C24A-B85A-EC0A-2C05D0635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34A1E-CBCE-A734-187D-55F8636F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C494-6601-46F1-8155-CEA843121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99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87EE9-8842-959B-DF1D-D09FCA6C5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7BFC4-A048-346C-4257-BE0B263E8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1F39E-D683-5E27-B434-04A682CE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F7200-8CF0-4BDC-B16B-5EAF92FE5E7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D5D6A-690C-F7F8-2338-796FFC20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B45AF-C815-6AF3-8ACF-66CE5A45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C494-6601-46F1-8155-CEA843121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1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36E1-0B80-8A96-95E7-7355F69F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1DEBD-BC62-8D6B-034E-B12E972BA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AB1BB-3E3E-8669-8D93-ECD1C3A9E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73186-A7BE-A4E8-8ABB-AADACB9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F7200-8CF0-4BDC-B16B-5EAF92FE5E7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077C1-3BED-AA03-61E6-F2135C13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34640-56E6-19D4-2ACE-D9BADE8DF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C494-6601-46F1-8155-CEA843121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82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0551-16C3-BAC1-C3BD-BC90FA6FB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65314-18EA-1EF0-4AA3-085FC522E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68038-9733-7318-C582-89B9927CF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B6CC01-1A85-F781-0C74-05C3D19F5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1111C-858B-FF7E-8709-24B6344650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851B8F-7423-5BB5-D718-9481C08D6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F7200-8CF0-4BDC-B16B-5EAF92FE5E7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ACE63B-6F86-3701-3C98-9D77E37D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85E416-84CD-80B1-5171-45BE1B05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C494-6601-46F1-8155-CEA843121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28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6177C-79EE-0472-06CC-29C6A5A3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D4542A-2EB1-0481-3F6B-8FECF8384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F7200-8CF0-4BDC-B16B-5EAF92FE5E7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B10656-EA64-6E13-D4BC-92F5F9E6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EA3D9-0680-CC9F-091F-AAAA3E1E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C494-6601-46F1-8155-CEA843121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466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6C93A-AC98-1D44-8706-0224D39B8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F7200-8CF0-4BDC-B16B-5EAF92FE5E7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8D7143-36FB-D55D-DECD-FFFD2531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5285C-41E0-0E86-BF2B-27015830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C494-6601-46F1-8155-CEA843121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59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C756D-B16A-6718-6685-27232C30B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D0047-E86E-C138-4CEC-4B821830C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EC60A-D371-7698-0289-721B40A1D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92186-62A0-3C0D-1655-FEC0DEEA9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F7200-8CF0-4BDC-B16B-5EAF92FE5E7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E05B0-37E4-24C9-60D5-63612CD51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6C35C-17AD-1A27-3648-6E786729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C494-6601-46F1-8155-CEA843121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67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08FC0-7CF5-0A87-071F-5A4FC72C0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2D748-EC15-C1C8-F825-2421E810F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DD189-B312-3147-108E-DEFD4E7B2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3B90F-80FD-0733-FF36-5BC3F612D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F7200-8CF0-4BDC-B16B-5EAF92FE5E7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1B6B1-B27B-7B51-11F6-A4AC98F53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54EC4-4CD8-6478-951E-B94A0326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C494-6601-46F1-8155-CEA843121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064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3B1EF-6058-8E93-8060-FB91779D8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F2C76-F071-082F-6278-F90D74897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AFA59-2470-CAD7-BD6F-3D06070C2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F7200-8CF0-4BDC-B16B-5EAF92FE5E7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1C1A2-517D-F3D1-936B-BD6AF613C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E4111-7E5F-CE74-57E7-8C2BE467E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C494-6601-46F1-8155-CEA843121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439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13BE27-F7AF-D664-02CE-9EE05CC95A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3919FB-158D-8247-3802-5D615BD53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DE215-1394-0917-83FE-25A05792B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F7200-8CF0-4BDC-B16B-5EAF92FE5E7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E50C6-E520-FB1A-3F69-E0A75D34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CDCB9-9EEE-4B2A-5556-8616DDCE4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C494-6601-46F1-8155-CEA843121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93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70B10E-3398-E04D-D7F2-DED61F63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335F3-638F-FFAB-CE3A-25AC2BB43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9F852-386E-0092-2C5C-4C7D7A82E4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8F7200-8CF0-4BDC-B16B-5EAF92FE5E7C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2397C-B52A-6C07-EA74-7FB9400DC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241B0-D4B4-E238-2052-27F2E26CA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7C494-6601-46F1-8155-CEA843121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649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E68CC-EF18-AFBC-B5C6-B12D7E4C1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2206"/>
            <a:ext cx="9144000" cy="2387600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a single neuron on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FPGA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181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58442-B69A-4550-D044-F82A600D7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065ABA-1F78-BEB1-BE22-70F773CEC285}"/>
              </a:ext>
            </a:extLst>
          </p:cNvPr>
          <p:cNvCxnSpPr>
            <a:cxnSpLocks/>
          </p:cNvCxnSpPr>
          <p:nvPr/>
        </p:nvCxnSpPr>
        <p:spPr>
          <a:xfrm>
            <a:off x="0" y="869588"/>
            <a:ext cx="12192000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664A45A-67D9-B96B-9F6C-3747215B0C1B}"/>
              </a:ext>
            </a:extLst>
          </p:cNvPr>
          <p:cNvSpPr txBox="1"/>
          <p:nvPr/>
        </p:nvSpPr>
        <p:spPr>
          <a:xfrm>
            <a:off x="2243528" y="284813"/>
            <a:ext cx="7704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AND FUNCTIONALITY</a:t>
            </a:r>
            <a:endParaRPr lang="en-IN" sz="32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CC2A9-9174-0428-B9E7-BA93FF662CF2}"/>
              </a:ext>
            </a:extLst>
          </p:cNvPr>
          <p:cNvSpPr txBox="1"/>
          <p:nvPr/>
        </p:nvSpPr>
        <p:spPr>
          <a:xfrm>
            <a:off x="409731" y="1004501"/>
            <a:ext cx="115424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 and the functionality of the architecture corresponds to the specific part of a real brain cell:</a:t>
            </a:r>
          </a:p>
          <a:p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Inputs (Dendrites)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Dendrites receive and transmit signals from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neighboring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neurons to the cell body.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input channels acquire data from the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slide switches and provide the initial inputs to the neuron.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Weights (Synaptic Strengths)</a:t>
            </a:r>
          </a:p>
          <a:p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Synaptic connections determine the influence of incoming signals based on their strength.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values define the relative importance of each input during signal processing. </a:t>
            </a: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Accumulator (Soma / Cell Body)</a:t>
            </a:r>
          </a:p>
          <a:p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soma integrates all incoming signals before generating a response.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accumulator computes the weighted sum of all input signals.</a:t>
            </a:r>
          </a:p>
        </p:txBody>
      </p:sp>
    </p:spTree>
    <p:extLst>
      <p:ext uri="{BB962C8B-B14F-4D97-AF65-F5344CB8AC3E}">
        <p14:creationId xmlns:p14="http://schemas.microsoft.com/office/powerpoint/2010/main" val="349236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3FDB1-AB9F-8985-78E7-F905395F4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0950BB-F2CB-0A9B-9B84-BAD0B84425AA}"/>
              </a:ext>
            </a:extLst>
          </p:cNvPr>
          <p:cNvCxnSpPr>
            <a:cxnSpLocks/>
          </p:cNvCxnSpPr>
          <p:nvPr/>
        </p:nvCxnSpPr>
        <p:spPr>
          <a:xfrm>
            <a:off x="0" y="869588"/>
            <a:ext cx="12192000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A1170E-0919-3235-D1E3-D7D14AB2054B}"/>
              </a:ext>
            </a:extLst>
          </p:cNvPr>
          <p:cNvSpPr txBox="1"/>
          <p:nvPr/>
        </p:nvSpPr>
        <p:spPr>
          <a:xfrm>
            <a:off x="2243528" y="284813"/>
            <a:ext cx="7704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AND FUNCTIONALITY</a:t>
            </a:r>
            <a:endParaRPr lang="en-IN" sz="32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9305C3-8F37-8D6E-FC3A-ED551D15E64D}"/>
              </a:ext>
            </a:extLst>
          </p:cNvPr>
          <p:cNvSpPr txBox="1"/>
          <p:nvPr/>
        </p:nvSpPr>
        <p:spPr>
          <a:xfrm>
            <a:off x="409731" y="1004501"/>
            <a:ext cx="1154242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Bias (Resting Membrane Potential)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resting membrane potential establishes the neuron's baseline electrical state and affects its firing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bias term shifts the activation threshold, enabling more flexible decision-making.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(Axon Hillock)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axon hillock determines whether the accumulated signals are sufficient to initiate an action potential.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function determines whether the computed output is propagated or suppressed.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Output (Axon)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axon transmits the neuron's final signal to other neurons or target cells.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output is displayed through the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LEDs, representing the neuron's final response.</a:t>
            </a:r>
          </a:p>
        </p:txBody>
      </p:sp>
    </p:spTree>
    <p:extLst>
      <p:ext uri="{BB962C8B-B14F-4D97-AF65-F5344CB8AC3E}">
        <p14:creationId xmlns:p14="http://schemas.microsoft.com/office/powerpoint/2010/main" val="3720743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7426D-BD56-75F1-0588-08D3274FA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879E0C-CD54-F033-E18D-2B77AD9B7FE4}"/>
              </a:ext>
            </a:extLst>
          </p:cNvPr>
          <p:cNvCxnSpPr>
            <a:cxnSpLocks/>
          </p:cNvCxnSpPr>
          <p:nvPr/>
        </p:nvCxnSpPr>
        <p:spPr>
          <a:xfrm>
            <a:off x="0" y="720564"/>
            <a:ext cx="12192000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72A0726-4E53-ADB4-4D1A-B0D11AB37346}"/>
              </a:ext>
            </a:extLst>
          </p:cNvPr>
          <p:cNvSpPr txBox="1"/>
          <p:nvPr/>
        </p:nvSpPr>
        <p:spPr>
          <a:xfrm>
            <a:off x="3547672" y="152215"/>
            <a:ext cx="7704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8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764FB9-CAA1-58F6-A77E-E0E0E36F22C8}"/>
              </a:ext>
            </a:extLst>
          </p:cNvPr>
          <p:cNvSpPr txBox="1"/>
          <p:nvPr/>
        </p:nvSpPr>
        <p:spPr>
          <a:xfrm>
            <a:off x="324787" y="1048910"/>
            <a:ext cx="1154242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Clock Synchronization and Scaling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entire design is synchronized using the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FPGA's onboard 100 MHz crystal oscillator.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custom 26-bit clock divider reduces the clock frequency to 1 Hz, enabling real-time observation of neuron outputs through the onboard LEDs.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Input Data Representation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signals are mapped to the FPGA slide switches using 4-bit signed integers.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representation supports values from −8 to +7, allowing both excitatory (positive) and inhibitory (negative) inputs. 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Two-Stage Pipelined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Parallel Multiplication: Each 4-bit input is multiplied by its corresponding 8-bit signed weight, producing independent 12-bit signed product values.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Accumulation and Bias Addition: The generated products are summed together with the bias using a 14-bit accumulator, ensuring accurate signal integration.</a:t>
            </a:r>
          </a:p>
        </p:txBody>
      </p:sp>
    </p:spTree>
    <p:extLst>
      <p:ext uri="{BB962C8B-B14F-4D97-AF65-F5344CB8AC3E}">
        <p14:creationId xmlns:p14="http://schemas.microsoft.com/office/powerpoint/2010/main" val="3768293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A3B70-C6C1-4257-5DBD-8DB59A891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A4E6B3-A73D-A8CA-4BAD-C6C7068FD448}"/>
              </a:ext>
            </a:extLst>
          </p:cNvPr>
          <p:cNvCxnSpPr>
            <a:cxnSpLocks/>
          </p:cNvCxnSpPr>
          <p:nvPr/>
        </p:nvCxnSpPr>
        <p:spPr>
          <a:xfrm>
            <a:off x="0" y="720564"/>
            <a:ext cx="12192000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AA47981-3F43-82A7-C445-E1C08CAF1B0A}"/>
              </a:ext>
            </a:extLst>
          </p:cNvPr>
          <p:cNvSpPr txBox="1"/>
          <p:nvPr/>
        </p:nvSpPr>
        <p:spPr>
          <a:xfrm>
            <a:off x="3547672" y="152215"/>
            <a:ext cx="7704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8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E8EB1C-6ED3-21A4-1594-8DCB998E2A20}"/>
              </a:ext>
            </a:extLst>
          </p:cNvPr>
          <p:cNvSpPr txBox="1"/>
          <p:nvPr/>
        </p:nvSpPr>
        <p:spPr>
          <a:xfrm>
            <a:off x="324787" y="1048910"/>
            <a:ext cx="1154242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Sign Extension and Data Integrity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arithmetic accuracy during accumulation, the bias value is dynamically sign-extended using the Verilog replication operator.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converts the 8-bit signed bias into a 14-bit signed value, preserving its sign and preventing overflow or data corruption during addition. 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and Output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hardware-based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function suppresses all negative accumulated values by forcing them to zero.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Output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is stored in a 5-bit signed register, and is displayed directly through the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onboard LEDs. </a:t>
            </a:r>
          </a:p>
        </p:txBody>
      </p:sp>
    </p:spTree>
    <p:extLst>
      <p:ext uri="{BB962C8B-B14F-4D97-AF65-F5344CB8AC3E}">
        <p14:creationId xmlns:p14="http://schemas.microsoft.com/office/powerpoint/2010/main" val="3182483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F3D3C-CDD7-534E-F529-D749B80A9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FA2270-AE5C-CD64-4DBA-9DA13319624F}"/>
              </a:ext>
            </a:extLst>
          </p:cNvPr>
          <p:cNvCxnSpPr>
            <a:cxnSpLocks/>
          </p:cNvCxnSpPr>
          <p:nvPr/>
        </p:nvCxnSpPr>
        <p:spPr>
          <a:xfrm>
            <a:off x="0" y="720564"/>
            <a:ext cx="12192000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38FAAF-AF21-FB30-480A-EF1549871E88}"/>
              </a:ext>
            </a:extLst>
          </p:cNvPr>
          <p:cNvSpPr txBox="1"/>
          <p:nvPr/>
        </p:nvSpPr>
        <p:spPr>
          <a:xfrm>
            <a:off x="3812498" y="130609"/>
            <a:ext cx="7704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SCHEMATIC </a:t>
            </a:r>
            <a:endParaRPr lang="en-IN" sz="28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CE5361-B80C-126A-3857-5A47666BDF3C}"/>
              </a:ext>
            </a:extLst>
          </p:cNvPr>
          <p:cNvSpPr txBox="1"/>
          <p:nvPr/>
        </p:nvSpPr>
        <p:spPr>
          <a:xfrm>
            <a:off x="324787" y="1048910"/>
            <a:ext cx="1154242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A4B3AF-4E1E-FA47-C021-24C20720D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2000" contrast="5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7300"/>
            <a:ext cx="12192000" cy="568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082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9F2E1-4CB3-2148-7892-94D6A696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2ADD04-EE89-BB9D-882D-1D97D0DB455C}"/>
              </a:ext>
            </a:extLst>
          </p:cNvPr>
          <p:cNvCxnSpPr>
            <a:cxnSpLocks/>
          </p:cNvCxnSpPr>
          <p:nvPr/>
        </p:nvCxnSpPr>
        <p:spPr>
          <a:xfrm>
            <a:off x="0" y="720564"/>
            <a:ext cx="12192000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0F7A577-1864-A009-81B0-6D99722ED1F5}"/>
              </a:ext>
            </a:extLst>
          </p:cNvPr>
          <p:cNvSpPr txBox="1"/>
          <p:nvPr/>
        </p:nvSpPr>
        <p:spPr>
          <a:xfrm>
            <a:off x="3547672" y="152215"/>
            <a:ext cx="7704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</a:t>
            </a:r>
            <a:endParaRPr lang="en-IN" sz="28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34B55F-85CD-1069-5BB4-1CF543F7F607}"/>
                  </a:ext>
                </a:extLst>
              </p:cNvPr>
              <p:cNvSpPr txBox="1"/>
              <p:nvPr/>
            </p:nvSpPr>
            <p:spPr>
              <a:xfrm>
                <a:off x="324787" y="1048910"/>
                <a:ext cx="11542426" cy="4879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neuron output is calculated using the equation:</a:t>
                </a:r>
              </a:p>
              <a:p>
                <a:endParaRPr lang="en-I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𝑆𝑢𝑚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IN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  <m:e>
                          <m:d>
                            <m:dPr>
                              <m:ctrlPr>
                                <a:rPr lang="en-GB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GB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.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𝐵𝑖𝑎𝑠</m:t>
                          </m:r>
                        </m:e>
                      </m:nary>
                    </m:oMath>
                  </m:oMathPara>
                </a14:m>
                <a:endParaRPr lang="en-I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= Input values</a:t>
                </a:r>
              </a:p>
              <a:p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 = Weights</a:t>
                </a:r>
              </a:p>
              <a:p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Bias</a:t>
                </a:r>
              </a:p>
              <a:p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Output</a:t>
                </a:r>
              </a:p>
              <a:p>
                <a:endParaRPr lang="en-I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weighted inputs are summed together and then shifted by the bias value before passing through the activation function.</a:t>
                </a:r>
              </a:p>
              <a:p>
                <a:endParaRPr lang="en-I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34B55F-85CD-1069-5BB4-1CF543F7F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87" y="1048910"/>
                <a:ext cx="11542426" cy="4879093"/>
              </a:xfrm>
              <a:prstGeom prst="rect">
                <a:avLst/>
              </a:prstGeom>
              <a:blipFill>
                <a:blip r:embed="rId2"/>
                <a:stretch>
                  <a:fillRect l="-634" t="-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76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ECA82-908E-1401-6B79-936136639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B7909B-02BF-0759-4369-C87EF7DB08EE}"/>
              </a:ext>
            </a:extLst>
          </p:cNvPr>
          <p:cNvCxnSpPr>
            <a:cxnSpLocks/>
          </p:cNvCxnSpPr>
          <p:nvPr/>
        </p:nvCxnSpPr>
        <p:spPr>
          <a:xfrm>
            <a:off x="0" y="720564"/>
            <a:ext cx="12192000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2BAF2E7-E25D-F3AA-17B2-7BD3C0F0EE66}"/>
              </a:ext>
            </a:extLst>
          </p:cNvPr>
          <p:cNvSpPr txBox="1"/>
          <p:nvPr/>
        </p:nvSpPr>
        <p:spPr>
          <a:xfrm>
            <a:off x="2603291" y="197344"/>
            <a:ext cx="7704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 USING VIVADO</a:t>
            </a:r>
            <a:endParaRPr lang="en-IN" sz="28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35CA7-E1EA-CFD5-AD27-444F51AC1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65" y="974360"/>
            <a:ext cx="10867869" cy="545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92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D2D05-4FB8-B3F7-14BC-34DF8C51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57FFFA-82B3-064B-2C6A-D2E0C1A16487}"/>
              </a:ext>
            </a:extLst>
          </p:cNvPr>
          <p:cNvCxnSpPr>
            <a:cxnSpLocks/>
          </p:cNvCxnSpPr>
          <p:nvPr/>
        </p:nvCxnSpPr>
        <p:spPr>
          <a:xfrm>
            <a:off x="0" y="720564"/>
            <a:ext cx="12192000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641C3F9-1E27-3CEF-C7AB-D7EB0953CA42}"/>
              </a:ext>
            </a:extLst>
          </p:cNvPr>
          <p:cNvSpPr txBox="1"/>
          <p:nvPr/>
        </p:nvSpPr>
        <p:spPr>
          <a:xfrm>
            <a:off x="2672975" y="99908"/>
            <a:ext cx="7704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IMPLEMENTATION RESULTS</a:t>
            </a:r>
            <a:endParaRPr lang="en-IN" sz="28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72B7E8-9E85-9DF7-3081-F3A3B2671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3" b="11680"/>
          <a:stretch>
            <a:fillRect/>
          </a:stretch>
        </p:blipFill>
        <p:spPr>
          <a:xfrm>
            <a:off x="1558977" y="1256659"/>
            <a:ext cx="8818942" cy="464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58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9A7C6-FB79-85F7-ACCE-B1FD78048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F4893EF-711D-7A55-41FB-37FD82169C63}"/>
              </a:ext>
            </a:extLst>
          </p:cNvPr>
          <p:cNvCxnSpPr>
            <a:cxnSpLocks/>
          </p:cNvCxnSpPr>
          <p:nvPr/>
        </p:nvCxnSpPr>
        <p:spPr>
          <a:xfrm>
            <a:off x="0" y="720564"/>
            <a:ext cx="12192000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4D3FDEC-FBB7-7D95-1589-1C04B2320906}"/>
              </a:ext>
            </a:extLst>
          </p:cNvPr>
          <p:cNvSpPr txBox="1"/>
          <p:nvPr/>
        </p:nvSpPr>
        <p:spPr>
          <a:xfrm>
            <a:off x="3547672" y="152215"/>
            <a:ext cx="7704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ANALYSIS</a:t>
            </a:r>
            <a:endParaRPr lang="en-IN" sz="28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1F2AD-3A1C-47D3-3932-718FE9BF8EFA}"/>
              </a:ext>
            </a:extLst>
          </p:cNvPr>
          <p:cNvSpPr txBox="1"/>
          <p:nvPr/>
        </p:nvSpPr>
        <p:spPr>
          <a:xfrm>
            <a:off x="324787" y="948690"/>
            <a:ext cx="11542426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 Weightage Profile Calculation</a:t>
            </a:r>
          </a:p>
          <a:p>
            <a:pPr marL="342900" indent="-342900">
              <a:buAutoNum type="arabicPeriod"/>
            </a:pPr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: X_0 = 1,  X_1 = 1  , X_2 = 1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Parameters: W_0 = 1, W_1 = 1, W_2 = 1, BIAS = 1</a:t>
            </a: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Parallel Multiplication (Stage 1)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prod0 = 1 x 1 = 1</a:t>
            </a: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prod1 = 1 x 1 = 1</a:t>
            </a: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prod2 = 1 x 1 = 1</a:t>
            </a:r>
          </a:p>
          <a:p>
            <a:pPr lvl="1"/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Accumulation &amp; Biasing (Stage 2)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= 3+ 1 ( bias) </a:t>
            </a: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= 4 </a:t>
            </a:r>
          </a:p>
          <a:p>
            <a:pPr lvl="1"/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State: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4 is positive, it passes through the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function completely unfiltered. The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LEDs will display the 5-bit signed binary value of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00100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3664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B139-9083-B6E8-4731-6D86E9D09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92D9B68-96D5-CB71-7AA8-5B4C549E77E6}"/>
              </a:ext>
            </a:extLst>
          </p:cNvPr>
          <p:cNvCxnSpPr>
            <a:cxnSpLocks/>
          </p:cNvCxnSpPr>
          <p:nvPr/>
        </p:nvCxnSpPr>
        <p:spPr>
          <a:xfrm>
            <a:off x="0" y="720564"/>
            <a:ext cx="12192000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4865293-A0B7-CE43-3620-C1D52A98494A}"/>
              </a:ext>
            </a:extLst>
          </p:cNvPr>
          <p:cNvSpPr txBox="1"/>
          <p:nvPr/>
        </p:nvSpPr>
        <p:spPr>
          <a:xfrm>
            <a:off x="3547672" y="152215"/>
            <a:ext cx="7704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ANALYSIS</a:t>
            </a:r>
            <a:endParaRPr lang="en-IN" sz="28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D0E48-6613-7515-E3B0-02C9CFE34063}"/>
              </a:ext>
            </a:extLst>
          </p:cNvPr>
          <p:cNvSpPr txBox="1"/>
          <p:nvPr/>
        </p:nvSpPr>
        <p:spPr>
          <a:xfrm>
            <a:off x="324787" y="948690"/>
            <a:ext cx="115424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Unequal Weightage Profile Calculation</a:t>
            </a:r>
          </a:p>
          <a:p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: x_0 = 1, x_1 =1 , x_2 = 1</a:t>
            </a: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Parameters: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W_0 = 1 , W_1 = 2, W_2 = 3, BIAS = 0</a:t>
            </a: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Parallel Multiplication (Stage 1)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prod0 = 1 x 1 = 1</a:t>
            </a: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prod1 = 1 x 2 = 2</a:t>
            </a: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prod2 = 1 x 3 = 3</a:t>
            </a:r>
          </a:p>
          <a:p>
            <a:pPr lvl="1"/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Accumulation &amp; Biasing (Stage 2)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= 6 + 0(bias)</a:t>
            </a: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= 6</a:t>
            </a:r>
          </a:p>
          <a:p>
            <a:pPr lvl="1"/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State: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6 is positive, the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layer remains completely open. The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LEDs will display the 5-bit signed binary value of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00110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7381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E4B39-1F67-1095-D1AA-AF6E920D9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7127BD-74B0-BAE6-6CD2-96E32438017D}"/>
              </a:ext>
            </a:extLst>
          </p:cNvPr>
          <p:cNvCxnSpPr>
            <a:cxnSpLocks/>
          </p:cNvCxnSpPr>
          <p:nvPr/>
        </p:nvCxnSpPr>
        <p:spPr>
          <a:xfrm>
            <a:off x="0" y="1409158"/>
            <a:ext cx="12192000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51209C5-7B54-10FD-1C80-6B5046288AEF}"/>
              </a:ext>
            </a:extLst>
          </p:cNvPr>
          <p:cNvSpPr txBox="1"/>
          <p:nvPr/>
        </p:nvSpPr>
        <p:spPr>
          <a:xfrm>
            <a:off x="3652603" y="2190877"/>
            <a:ext cx="7704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B38C05-537C-A399-CA00-EA3A6C5FA066}"/>
              </a:ext>
            </a:extLst>
          </p:cNvPr>
          <p:cNvCxnSpPr>
            <a:cxnSpLocks/>
          </p:cNvCxnSpPr>
          <p:nvPr/>
        </p:nvCxnSpPr>
        <p:spPr>
          <a:xfrm>
            <a:off x="0" y="3915014"/>
            <a:ext cx="12192000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832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823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Times New Roman</vt:lpstr>
      <vt:lpstr>Office Theme</vt:lpstr>
      <vt:lpstr>Implementation of a single neuron on Basys 3 FPGA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charunivethithas@gmail.com</dc:creator>
  <cp:lastModifiedBy>charunivethithas@gmail.com</cp:lastModifiedBy>
  <cp:revision>3</cp:revision>
  <dcterms:created xsi:type="dcterms:W3CDTF">2026-06-02T15:40:04Z</dcterms:created>
  <dcterms:modified xsi:type="dcterms:W3CDTF">2026-06-02T17:27:30Z</dcterms:modified>
</cp:coreProperties>
</file>